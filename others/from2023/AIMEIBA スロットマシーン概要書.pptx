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3" d="100"/>
          <a:sy n="43" d="100"/>
        </p:scale>
        <p:origin x="1112" y="4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fda4da74f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fda4da74f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fda4da74ff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fda4da74f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fda4da74ff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fda4da74f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fda4da74ff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fda4da74f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fda4da74ff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fda4da74ff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fda4da74ff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fda4da74ff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fda4da74ff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fda4da74f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fda4da74ff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fda4da74ff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fda4da74ff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fda4da74ff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fda4da74ff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fda4da74ff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fda4da74ff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fda4da74ff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fda4da74ff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fda4da74ff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fda4da74ff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fda4da74ff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fda4da74ff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2fda4da74ff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fda4da74ff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da4da74ff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fda4da74ff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fda4da74ff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fda4da74ff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fda4da74ff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151121e0e6d677b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151121e0e6d677b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151121e0e6d677b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151121e0e6d677b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fdf573e0b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fdf573e0b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ja"/>
              <a:t>AIMEIBA スロットマシーン概要書</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目的</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t>・実際に存在している日本のスロット機：パチスロを再現する</a:t>
            </a:r>
            <a:endParaRPr/>
          </a:p>
          <a:p>
            <a:pPr marL="0" lvl="0" indent="0" algn="l" rtl="0">
              <a:spcBef>
                <a:spcPts val="1200"/>
              </a:spcBef>
              <a:spcAft>
                <a:spcPts val="1200"/>
              </a:spcAft>
              <a:buNone/>
            </a:pPr>
            <a:r>
              <a:rPr lang="ja"/>
              <a:t>→パチスロの機能を限りなく搭載した機械を作成する</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そもそもパチスロとは？</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ja"/>
              <a:t>・日本発のスロットマシーンの名称</a:t>
            </a:r>
            <a:endParaRPr/>
          </a:p>
          <a:p>
            <a:pPr marL="0" lvl="0" indent="0" algn="l" rtl="0">
              <a:spcBef>
                <a:spcPts val="1200"/>
              </a:spcBef>
              <a:spcAft>
                <a:spcPts val="0"/>
              </a:spcAft>
              <a:buNone/>
            </a:pPr>
            <a:r>
              <a:rPr lang="ja"/>
              <a:t>・正式名称：回胴式遊技機</a:t>
            </a:r>
            <a:endParaRPr/>
          </a:p>
          <a:p>
            <a:pPr marL="0" lvl="0" indent="0" algn="l" rtl="0">
              <a:spcBef>
                <a:spcPts val="1200"/>
              </a:spcBef>
              <a:spcAft>
                <a:spcPts val="0"/>
              </a:spcAft>
              <a:buNone/>
            </a:pPr>
            <a:r>
              <a:rPr lang="ja"/>
              <a:t>・主にメダルを用いて遊技する(最近ではメダルを使わない場合もある)</a:t>
            </a:r>
            <a:endParaRPr/>
          </a:p>
          <a:p>
            <a:pPr marL="0" lvl="0" indent="0" algn="l" rtl="0">
              <a:spcBef>
                <a:spcPts val="1200"/>
              </a:spcBef>
              <a:spcAft>
                <a:spcPts val="0"/>
              </a:spcAft>
              <a:buNone/>
            </a:pPr>
            <a:r>
              <a:rPr lang="ja"/>
              <a:t>・ボーナスを揃えて出玉を増やす</a:t>
            </a:r>
            <a:endParaRPr/>
          </a:p>
          <a:p>
            <a:pPr marL="0" lvl="0" indent="0" algn="l" rtl="0">
              <a:spcBef>
                <a:spcPts val="1200"/>
              </a:spcBef>
              <a:spcAft>
                <a:spcPts val="0"/>
              </a:spcAft>
              <a:buNone/>
            </a:pPr>
            <a:r>
              <a:rPr lang="ja"/>
              <a:t>※ボーナスについては後に説明</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68" name="Google Shape;68;p15"/>
          <p:cNvPicPr preferRelativeResize="0"/>
          <p:nvPr/>
        </p:nvPicPr>
        <p:blipFill>
          <a:blip r:embed="rId3">
            <a:alphaModFix/>
          </a:blip>
          <a:stretch>
            <a:fillRect/>
          </a:stretch>
        </p:blipFill>
        <p:spPr>
          <a:xfrm>
            <a:off x="5181650" y="2571750"/>
            <a:ext cx="2662852" cy="2662852"/>
          </a:xfrm>
          <a:prstGeom prst="rect">
            <a:avLst/>
          </a:prstGeom>
          <a:noFill/>
          <a:ln>
            <a:noFill/>
          </a:ln>
        </p:spPr>
      </p:pic>
      <p:sp>
        <p:nvSpPr>
          <p:cNvPr id="69" name="Google Shape;69;p15"/>
          <p:cNvSpPr txBox="1"/>
          <p:nvPr/>
        </p:nvSpPr>
        <p:spPr>
          <a:xfrm>
            <a:off x="4155425" y="3395125"/>
            <a:ext cx="2172300" cy="101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1800">
                <a:solidFill>
                  <a:schemeClr val="dk2"/>
                </a:solidFill>
              </a:rPr>
              <a:t>主な外観</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海外のスロットマシーンとの違い</a:t>
            </a:r>
            <a:endParaRPr/>
          </a:p>
        </p:txBody>
      </p:sp>
      <p:sp>
        <p:nvSpPr>
          <p:cNvPr id="75" name="Google Shape;75;p1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t>海外</a:t>
            </a:r>
            <a:endParaRPr/>
          </a:p>
          <a:p>
            <a:pPr marL="0" lvl="0" indent="0" algn="l" rtl="0">
              <a:spcBef>
                <a:spcPts val="1200"/>
              </a:spcBef>
              <a:spcAft>
                <a:spcPts val="0"/>
              </a:spcAft>
              <a:buNone/>
            </a:pPr>
            <a:r>
              <a:rPr lang="ja"/>
              <a:t>メダルを入れる</a:t>
            </a:r>
            <a:br>
              <a:rPr lang="ja"/>
            </a:br>
            <a:r>
              <a:rPr lang="ja"/>
              <a:t>↓</a:t>
            </a:r>
            <a:endParaRPr/>
          </a:p>
          <a:p>
            <a:pPr marL="0" lvl="0" indent="0" algn="l" rtl="0">
              <a:spcBef>
                <a:spcPts val="1200"/>
              </a:spcBef>
              <a:spcAft>
                <a:spcPts val="0"/>
              </a:spcAft>
              <a:buNone/>
            </a:pPr>
            <a:r>
              <a:rPr lang="ja"/>
              <a:t>スロットのレバーを引く</a:t>
            </a:r>
            <a:br>
              <a:rPr lang="ja"/>
            </a:br>
            <a:r>
              <a:rPr lang="ja"/>
              <a:t>↓</a:t>
            </a:r>
            <a:endParaRPr/>
          </a:p>
          <a:p>
            <a:pPr marL="0" lvl="0" indent="0" algn="l" rtl="0">
              <a:spcBef>
                <a:spcPts val="1200"/>
              </a:spcBef>
              <a:spcAft>
                <a:spcPts val="0"/>
              </a:spcAft>
              <a:buNone/>
            </a:pPr>
            <a:r>
              <a:rPr lang="ja" u="sng">
                <a:solidFill>
                  <a:srgbClr val="FF0000"/>
                </a:solidFill>
              </a:rPr>
              <a:t>図柄がそろう</a:t>
            </a:r>
            <a:endParaRPr u="sng">
              <a:solidFill>
                <a:srgbClr val="FF0000"/>
              </a:solidFill>
            </a:endParaRPr>
          </a:p>
          <a:p>
            <a:pPr marL="0" lvl="0" indent="0" algn="l" rtl="0">
              <a:spcBef>
                <a:spcPts val="1200"/>
              </a:spcBef>
              <a:spcAft>
                <a:spcPts val="0"/>
              </a:spcAft>
              <a:buNone/>
            </a:pPr>
            <a:r>
              <a:rPr lang="ja"/>
              <a:t>↓</a:t>
            </a:r>
            <a:endParaRPr/>
          </a:p>
          <a:p>
            <a:pPr marL="0" lvl="0" indent="0" algn="l" rtl="0">
              <a:spcBef>
                <a:spcPts val="1200"/>
              </a:spcBef>
              <a:spcAft>
                <a:spcPts val="0"/>
              </a:spcAft>
              <a:buNone/>
            </a:pPr>
            <a:r>
              <a:rPr lang="ja"/>
              <a:t>メダルの払い出し</a:t>
            </a:r>
            <a:endParaRPr/>
          </a:p>
          <a:p>
            <a:pPr marL="0" lvl="0" indent="0" algn="l" rtl="0">
              <a:spcBef>
                <a:spcPts val="1200"/>
              </a:spcBef>
              <a:spcAft>
                <a:spcPts val="1200"/>
              </a:spcAft>
              <a:buNone/>
            </a:pPr>
            <a:endParaRPr/>
          </a:p>
        </p:txBody>
      </p:sp>
      <p:sp>
        <p:nvSpPr>
          <p:cNvPr id="76" name="Google Shape;76;p1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t>日本</a:t>
            </a:r>
            <a:br>
              <a:rPr lang="ja"/>
            </a:br>
            <a:r>
              <a:rPr lang="ja"/>
              <a:t>メダルを入れる</a:t>
            </a:r>
            <a:endParaRPr/>
          </a:p>
          <a:p>
            <a:pPr marL="0" lvl="0" indent="0" algn="l" rtl="0">
              <a:spcBef>
                <a:spcPts val="1200"/>
              </a:spcBef>
              <a:spcAft>
                <a:spcPts val="0"/>
              </a:spcAft>
              <a:buNone/>
            </a:pPr>
            <a:r>
              <a:rPr lang="ja"/>
              <a:t>↓</a:t>
            </a:r>
            <a:endParaRPr/>
          </a:p>
          <a:p>
            <a:pPr marL="0" lvl="0" indent="0" algn="l" rtl="0">
              <a:spcBef>
                <a:spcPts val="1200"/>
              </a:spcBef>
              <a:spcAft>
                <a:spcPts val="0"/>
              </a:spcAft>
              <a:buNone/>
            </a:pPr>
            <a:r>
              <a:rPr lang="ja"/>
              <a:t>スロットのレバーを引く</a:t>
            </a:r>
            <a:endParaRPr/>
          </a:p>
          <a:p>
            <a:pPr marL="0" lvl="0" indent="0" algn="l" rtl="0">
              <a:spcBef>
                <a:spcPts val="1200"/>
              </a:spcBef>
              <a:spcAft>
                <a:spcPts val="0"/>
              </a:spcAft>
              <a:buNone/>
            </a:pPr>
            <a:r>
              <a:rPr lang="ja"/>
              <a:t>↓</a:t>
            </a:r>
            <a:endParaRPr/>
          </a:p>
          <a:p>
            <a:pPr marL="0" lvl="0" indent="0" algn="l" rtl="0">
              <a:spcBef>
                <a:spcPts val="1200"/>
              </a:spcBef>
              <a:spcAft>
                <a:spcPts val="0"/>
              </a:spcAft>
              <a:buNone/>
            </a:pPr>
            <a:r>
              <a:rPr lang="ja" u="sng">
                <a:solidFill>
                  <a:srgbClr val="FF0000"/>
                </a:solidFill>
              </a:rPr>
              <a:t>ストップボタンを押して図柄をそろえる</a:t>
            </a:r>
            <a:endParaRPr u="sng">
              <a:solidFill>
                <a:srgbClr val="FF0000"/>
              </a:solidFill>
            </a:endParaRPr>
          </a:p>
          <a:p>
            <a:pPr marL="0" lvl="0" indent="0" algn="l" rtl="0">
              <a:spcBef>
                <a:spcPts val="1200"/>
              </a:spcBef>
              <a:spcAft>
                <a:spcPts val="0"/>
              </a:spcAft>
              <a:buNone/>
            </a:pPr>
            <a:r>
              <a:rPr lang="ja"/>
              <a:t>↓</a:t>
            </a:r>
            <a:endParaRPr/>
          </a:p>
          <a:p>
            <a:pPr marL="0" lvl="0" indent="0" algn="l" rtl="0">
              <a:spcBef>
                <a:spcPts val="1200"/>
              </a:spcBef>
              <a:spcAft>
                <a:spcPts val="1200"/>
              </a:spcAft>
              <a:buNone/>
            </a:pPr>
            <a:r>
              <a:rPr lang="ja"/>
              <a:t>メダルの払い出し</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図柄を揃える</a:t>
            </a:r>
            <a:endParaRPr/>
          </a:p>
        </p:txBody>
      </p:sp>
      <p:sp>
        <p:nvSpPr>
          <p:cNvPr id="82" name="Google Shape;82;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t>・日本の遊技機は法律上「技術介入」を入れる必要がある</a:t>
            </a:r>
            <a:endParaRPr/>
          </a:p>
          <a:p>
            <a:pPr marL="0" lvl="0" indent="0" algn="l" rtl="0">
              <a:spcBef>
                <a:spcPts val="1200"/>
              </a:spcBef>
              <a:spcAft>
                <a:spcPts val="0"/>
              </a:spcAft>
              <a:buNone/>
            </a:pPr>
            <a:r>
              <a:rPr lang="ja"/>
              <a:t>技術介入：遊技者の技術によって得をしたり損をするシステム</a:t>
            </a:r>
            <a:br>
              <a:rPr lang="ja"/>
            </a:br>
            <a:r>
              <a:rPr lang="ja"/>
              <a:t>→そのため「ストップボタンによって絵柄を止める」をいうステップがある</a:t>
            </a:r>
            <a:endParaRPr/>
          </a:p>
          <a:p>
            <a:pPr marL="0" lvl="0" indent="0" algn="l" rtl="0">
              <a:spcBef>
                <a:spcPts val="1200"/>
              </a:spcBef>
              <a:spcAft>
                <a:spcPts val="0"/>
              </a:spcAft>
              <a:buNone/>
            </a:pPr>
            <a:r>
              <a:rPr lang="ja"/>
              <a:t>・この仕様がパチスロの大きな特徴となっている</a:t>
            </a:r>
            <a:br>
              <a:rPr lang="ja"/>
            </a:br>
            <a:br>
              <a:rPr lang="ja"/>
            </a:br>
            <a:r>
              <a:rPr lang="ja"/>
              <a:t>・基本的に止める図柄は左、中、右の回転する図柄三リール</a:t>
            </a:r>
            <a:endParaRPr/>
          </a:p>
          <a:p>
            <a:pPr marL="0" lvl="0" indent="0" algn="l" rtl="0">
              <a:spcBef>
                <a:spcPts val="1200"/>
              </a:spcBef>
              <a:spcAft>
                <a:spcPts val="1200"/>
              </a:spcAft>
              <a:buNone/>
            </a:pPr>
            <a:r>
              <a:rPr lang="ja"/>
              <a:t>・順番に押して止めていく場合が多い(順押し)</a:t>
            </a:r>
            <a:endParaRPr/>
          </a:p>
        </p:txBody>
      </p:sp>
      <p:pic>
        <p:nvPicPr>
          <p:cNvPr id="83" name="Google Shape;83;p17"/>
          <p:cNvPicPr preferRelativeResize="0"/>
          <p:nvPr/>
        </p:nvPicPr>
        <p:blipFill rotWithShape="1">
          <a:blip r:embed="rId3">
            <a:alphaModFix/>
          </a:blip>
          <a:srcRect l="20525" t="45259" r="20525" b="1057"/>
          <a:stretch/>
        </p:blipFill>
        <p:spPr>
          <a:xfrm>
            <a:off x="5234575" y="3713975"/>
            <a:ext cx="1569700" cy="1429524"/>
          </a:xfrm>
          <a:prstGeom prst="rect">
            <a:avLst/>
          </a:prstGeom>
          <a:noFill/>
          <a:ln>
            <a:noFill/>
          </a:ln>
        </p:spPr>
      </p:pic>
      <p:sp>
        <p:nvSpPr>
          <p:cNvPr id="84" name="Google Shape;84;p17"/>
          <p:cNvSpPr txBox="1"/>
          <p:nvPr/>
        </p:nvSpPr>
        <p:spPr>
          <a:xfrm>
            <a:off x="6432875" y="4703625"/>
            <a:ext cx="2242500" cy="23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1800">
                <a:solidFill>
                  <a:schemeClr val="dk1"/>
                </a:solidFill>
              </a:rPr>
              <a:t>←ストップボタン</a:t>
            </a:r>
            <a:endParaRPr sz="1800">
              <a:solidFill>
                <a:schemeClr val="dk1"/>
              </a:solidFill>
            </a:endParaRPr>
          </a:p>
        </p:txBody>
      </p:sp>
      <p:sp>
        <p:nvSpPr>
          <p:cNvPr id="85" name="Google Shape;85;p17"/>
          <p:cNvSpPr txBox="1"/>
          <p:nvPr/>
        </p:nvSpPr>
        <p:spPr>
          <a:xfrm>
            <a:off x="6608075" y="3881975"/>
            <a:ext cx="1163100" cy="23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1800">
                <a:solidFill>
                  <a:srgbClr val="040C28"/>
                </a:solidFill>
              </a:rPr>
              <a:t>←リール</a:t>
            </a:r>
            <a:endParaRPr sz="1800">
              <a:solidFill>
                <a:srgbClr val="040C2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ja"/>
              <a:t>図柄を揃える②</a:t>
            </a:r>
            <a:endParaRPr/>
          </a:p>
        </p:txBody>
      </p:sp>
      <p:sp>
        <p:nvSpPr>
          <p:cNvPr id="91" name="Google Shape;91;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t>しかしながら</a:t>
            </a:r>
            <a:endParaRPr/>
          </a:p>
          <a:p>
            <a:pPr marL="0" lvl="0" indent="0" algn="l" rtl="0">
              <a:spcBef>
                <a:spcPts val="1200"/>
              </a:spcBef>
              <a:spcAft>
                <a:spcPts val="0"/>
              </a:spcAft>
              <a:buNone/>
            </a:pPr>
            <a:r>
              <a:rPr lang="ja" u="sng">
                <a:solidFill>
                  <a:srgbClr val="FF0000"/>
                </a:solidFill>
              </a:rPr>
              <a:t>・スロットのレバーを引いた時点で何が揃うのかは決まっている</a:t>
            </a:r>
            <a:endParaRPr u="sng">
              <a:solidFill>
                <a:srgbClr val="FF0000"/>
              </a:solidFill>
            </a:endParaRPr>
          </a:p>
          <a:p>
            <a:pPr marL="0" lvl="0" indent="0" algn="l" rtl="0">
              <a:spcBef>
                <a:spcPts val="1200"/>
              </a:spcBef>
              <a:spcAft>
                <a:spcPts val="0"/>
              </a:spcAft>
              <a:buNone/>
            </a:pPr>
            <a:r>
              <a:rPr lang="ja"/>
              <a:t>スロットのレバーを引いた瞬間に確率抽選が行われ、フラグ抽選</a:t>
            </a:r>
            <a:endParaRPr/>
          </a:p>
          <a:p>
            <a:pPr marL="0" lvl="0" indent="0" algn="l" rtl="0">
              <a:spcBef>
                <a:spcPts val="1200"/>
              </a:spcBef>
              <a:spcAft>
                <a:spcPts val="0"/>
              </a:spcAft>
              <a:buNone/>
            </a:pPr>
            <a:r>
              <a:rPr lang="ja"/>
              <a:t>↓</a:t>
            </a:r>
            <a:endParaRPr/>
          </a:p>
          <a:p>
            <a:pPr marL="0" lvl="0" indent="0" algn="l" rtl="0">
              <a:spcBef>
                <a:spcPts val="1200"/>
              </a:spcBef>
              <a:spcAft>
                <a:spcPts val="0"/>
              </a:spcAft>
              <a:buNone/>
            </a:pPr>
            <a:r>
              <a:rPr lang="ja"/>
              <a:t>フラグに応じた図柄を</a:t>
            </a:r>
            <a:r>
              <a:rPr lang="ja" u="sng"/>
              <a:t>揃えさせるよう</a:t>
            </a:r>
            <a:r>
              <a:rPr lang="ja"/>
              <a:t>リールを制御する</a:t>
            </a:r>
            <a:endParaRPr/>
          </a:p>
          <a:p>
            <a:pPr marL="0" lvl="0" indent="0" algn="l" rtl="0">
              <a:spcBef>
                <a:spcPts val="1200"/>
              </a:spcBef>
              <a:spcAft>
                <a:spcPts val="0"/>
              </a:spcAft>
              <a:buNone/>
            </a:pPr>
            <a:endParaRPr/>
          </a:p>
          <a:p>
            <a:pPr marL="0" lvl="0" indent="0" algn="l" rtl="0">
              <a:spcBef>
                <a:spcPts val="1200"/>
              </a:spcBef>
              <a:spcAft>
                <a:spcPts val="1200"/>
              </a:spcAft>
              <a:buNone/>
            </a:pPr>
            <a:r>
              <a:rPr lang="ja"/>
              <a:t>しかしそれでは「技術介入」を満たせない</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技術介入の例</a:t>
            </a:r>
            <a:endParaRPr/>
          </a:p>
        </p:txBody>
      </p:sp>
      <p:sp>
        <p:nvSpPr>
          <p:cNvPr id="97" name="Google Shape;97;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ja"/>
              <a:t>・役の取りこぼし</a:t>
            </a:r>
            <a:endParaRPr/>
          </a:p>
          <a:p>
            <a:pPr marL="0" lvl="0" indent="0" algn="l" rtl="0">
              <a:spcBef>
                <a:spcPts val="1200"/>
              </a:spcBef>
              <a:spcAft>
                <a:spcPts val="0"/>
              </a:spcAft>
              <a:buNone/>
            </a:pPr>
            <a:r>
              <a:rPr lang="ja"/>
              <a:t>特定の役はリールの一定の位置にしか存在しないため、その位置を狙わなければフラグが成立していたとしても図柄がそろわない⇒払い出しがない</a:t>
            </a:r>
            <a:endParaRPr/>
          </a:p>
          <a:p>
            <a:pPr marL="0" lvl="0" indent="0" algn="l" rtl="0">
              <a:spcBef>
                <a:spcPts val="1200"/>
              </a:spcBef>
              <a:spcAft>
                <a:spcPts val="0"/>
              </a:spcAft>
              <a:buNone/>
            </a:pPr>
            <a:r>
              <a:rPr lang="ja"/>
              <a:t>※それによって台でその役の効果(ボーナスの抽選など)が無効になるわけではない</a:t>
            </a:r>
            <a:endParaRPr/>
          </a:p>
          <a:p>
            <a:pPr marL="0" lvl="0" indent="0" algn="l" rtl="0">
              <a:spcBef>
                <a:spcPts val="1200"/>
              </a:spcBef>
              <a:spcAft>
                <a:spcPts val="0"/>
              </a:spcAft>
              <a:buNone/>
            </a:pPr>
            <a:r>
              <a:rPr lang="ja"/>
              <a:t>・ボーナスの成立</a:t>
            </a:r>
            <a:endParaRPr/>
          </a:p>
          <a:p>
            <a:pPr marL="0" lvl="0" indent="0" algn="l" rtl="0">
              <a:spcBef>
                <a:spcPts val="1200"/>
              </a:spcBef>
              <a:spcAft>
                <a:spcPts val="0"/>
              </a:spcAft>
              <a:buNone/>
            </a:pPr>
            <a:r>
              <a:rPr lang="ja"/>
              <a:t>上記のようにボーナス図柄も一定の位置にしか存在しない</a:t>
            </a:r>
            <a:endParaRPr/>
          </a:p>
          <a:p>
            <a:pPr marL="0" lvl="0" indent="0" algn="l" rtl="0">
              <a:spcBef>
                <a:spcPts val="1200"/>
              </a:spcBef>
              <a:spcAft>
                <a:spcPts val="0"/>
              </a:spcAft>
              <a:buNone/>
            </a:pPr>
            <a:r>
              <a:rPr lang="ja"/>
              <a:t>⇒揃うまでボーナスが始まらない</a:t>
            </a:r>
            <a:endParaRPr/>
          </a:p>
          <a:p>
            <a:pPr marL="0" lvl="0" indent="0" algn="l" rtl="0">
              <a:spcBef>
                <a:spcPts val="1200"/>
              </a:spcBef>
              <a:spcAft>
                <a:spcPts val="1200"/>
              </a:spcAft>
              <a:buNone/>
            </a:pPr>
            <a:r>
              <a:rPr lang="ja"/>
              <a:t>このような事象で技術介入を満たしている</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今回のモデル</a:t>
            </a:r>
            <a:endParaRPr/>
          </a:p>
        </p:txBody>
      </p:sp>
      <p:sp>
        <p:nvSpPr>
          <p:cNvPr id="103" name="Google Shape;103;p20"/>
          <p:cNvSpPr txBox="1">
            <a:spLocks noGrp="1"/>
          </p:cNvSpPr>
          <p:nvPr>
            <p:ph type="body" idx="1"/>
          </p:nvPr>
        </p:nvSpPr>
        <p:spPr>
          <a:xfrm>
            <a:off x="234600" y="1145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ja"/>
              <a:t>ジャグラーシリーズ</a:t>
            </a:r>
            <a:endParaRPr/>
          </a:p>
        </p:txBody>
      </p:sp>
      <p:pic>
        <p:nvPicPr>
          <p:cNvPr id="104" name="Google Shape;104;p20"/>
          <p:cNvPicPr preferRelativeResize="0"/>
          <p:nvPr/>
        </p:nvPicPr>
        <p:blipFill>
          <a:blip r:embed="rId3">
            <a:alphaModFix/>
          </a:blip>
          <a:stretch>
            <a:fillRect/>
          </a:stretch>
        </p:blipFill>
        <p:spPr>
          <a:xfrm>
            <a:off x="3657925" y="1250175"/>
            <a:ext cx="2548350" cy="3893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ジャグラーとは？</a:t>
            </a:r>
            <a:endParaRPr/>
          </a:p>
        </p:txBody>
      </p:sp>
      <p:sp>
        <p:nvSpPr>
          <p:cNvPr id="110" name="Google Shape;110;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t>・日本でもっとも有名なパチスロ機のシリーズ</a:t>
            </a:r>
            <a:endParaRPr/>
          </a:p>
          <a:p>
            <a:pPr marL="0" lvl="0" indent="0" algn="l" rtl="0">
              <a:spcBef>
                <a:spcPts val="1200"/>
              </a:spcBef>
              <a:spcAft>
                <a:spcPts val="0"/>
              </a:spcAft>
              <a:buNone/>
            </a:pPr>
            <a:r>
              <a:rPr lang="ja"/>
              <a:t>・ノーマルタイプ(ボーナスのみで出玉を増やす)</a:t>
            </a:r>
            <a:br>
              <a:rPr lang="ja"/>
            </a:br>
            <a:r>
              <a:rPr lang="ja"/>
              <a:t>※ATタイプ、ARTタイプなども存在するが割愛</a:t>
            </a:r>
            <a:endParaRPr/>
          </a:p>
          <a:p>
            <a:pPr marL="0" lvl="0" indent="0" algn="l" rtl="0">
              <a:spcBef>
                <a:spcPts val="1200"/>
              </a:spcBef>
              <a:spcAft>
                <a:spcPts val="1200"/>
              </a:spcAft>
              <a:buNone/>
            </a:pPr>
            <a:r>
              <a:rPr lang="ja"/>
              <a:t>・ボーナスフラグ成立時に台のランプ(GOGOランプ)が光ることが特徴</a:t>
            </a:r>
            <a:br>
              <a:rPr lang="ja"/>
            </a:br>
            <a:br>
              <a:rPr lang="ja"/>
            </a:br>
            <a:r>
              <a:rPr lang="ja"/>
              <a:t>・技術介入要素も少なく、ランプが光ればボーナスというシンプル性で初心者でも遊びやすい</a:t>
            </a:r>
            <a:br>
              <a:rPr lang="ja"/>
            </a:br>
            <a:endParaRPr/>
          </a:p>
        </p:txBody>
      </p:sp>
      <p:pic>
        <p:nvPicPr>
          <p:cNvPr id="111" name="Google Shape;111;p21"/>
          <p:cNvPicPr preferRelativeResize="0"/>
          <p:nvPr/>
        </p:nvPicPr>
        <p:blipFill>
          <a:blip r:embed="rId3">
            <a:alphaModFix/>
          </a:blip>
          <a:stretch>
            <a:fillRect/>
          </a:stretch>
        </p:blipFill>
        <p:spPr>
          <a:xfrm>
            <a:off x="6891475" y="0"/>
            <a:ext cx="1559500" cy="23825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図柄</a:t>
            </a:r>
            <a:endParaRPr/>
          </a:p>
        </p:txBody>
      </p:sp>
      <p:sp>
        <p:nvSpPr>
          <p:cNvPr id="117" name="Google Shape;117;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ja"/>
              <a:t>ジャグラーには２つのボーナス図柄、5つの小役(ボーナス図柄以外の図柄)がある</a:t>
            </a:r>
            <a:endParaRPr/>
          </a:p>
          <a:p>
            <a:pPr marL="0" lvl="0" indent="0" algn="l" rtl="0">
              <a:spcBef>
                <a:spcPts val="1200"/>
              </a:spcBef>
              <a:spcAft>
                <a:spcPts val="0"/>
              </a:spcAft>
              <a:buNone/>
            </a:pPr>
            <a:r>
              <a:rPr lang="ja"/>
              <a:t>基本的にその図柄が左、中、右が一直線に並ぶと役が成立する</a:t>
            </a:r>
            <a:endParaRPr/>
          </a:p>
          <a:p>
            <a:pPr marL="0" lvl="0" indent="0" algn="l" rtl="0">
              <a:spcBef>
                <a:spcPts val="1200"/>
              </a:spcBef>
              <a:spcAft>
                <a:spcPts val="0"/>
              </a:spcAft>
              <a:buNone/>
            </a:pPr>
            <a:r>
              <a:rPr lang="ja"/>
              <a:t>ボーナス図柄</a:t>
            </a:r>
            <a:endParaRPr/>
          </a:p>
          <a:p>
            <a:pPr marL="0" lvl="0" indent="0" algn="l" rtl="0">
              <a:spcBef>
                <a:spcPts val="1200"/>
              </a:spcBef>
              <a:spcAft>
                <a:spcPts val="0"/>
              </a:spcAft>
              <a:buNone/>
            </a:pPr>
            <a:r>
              <a:rPr lang="ja"/>
              <a:t>・BIG</a:t>
            </a:r>
            <a:endParaRPr/>
          </a:p>
          <a:p>
            <a:pPr marL="0" lvl="0" indent="0" algn="l" rtl="0">
              <a:spcBef>
                <a:spcPts val="1200"/>
              </a:spcBef>
              <a:spcAft>
                <a:spcPts val="0"/>
              </a:spcAft>
              <a:buNone/>
            </a:pPr>
            <a:r>
              <a:rPr lang="ja"/>
              <a:t>7・7・7が揃った状態　ビッグボーナス（約250枚の払い出し）が成立している</a:t>
            </a:r>
            <a:endParaRPr/>
          </a:p>
          <a:p>
            <a:pPr marL="0" lvl="0" indent="0" algn="l" rtl="0">
              <a:spcBef>
                <a:spcPts val="1200"/>
              </a:spcBef>
              <a:spcAft>
                <a:spcPts val="0"/>
              </a:spcAft>
              <a:buNone/>
            </a:pPr>
            <a:r>
              <a:rPr lang="ja"/>
              <a:t>・REG</a:t>
            </a:r>
            <a:endParaRPr/>
          </a:p>
          <a:p>
            <a:pPr marL="0" lvl="0" indent="0" algn="l" rtl="0">
              <a:spcBef>
                <a:spcPts val="1200"/>
              </a:spcBef>
              <a:spcAft>
                <a:spcPts val="0"/>
              </a:spcAft>
              <a:buNone/>
            </a:pPr>
            <a:r>
              <a:rPr lang="ja"/>
              <a:t>7・7・barが揃った状態　レギュラーボーナス（約50枚の払い出し）が成立している</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118" name="Google Shape;118;p22"/>
          <p:cNvPicPr preferRelativeResize="0"/>
          <p:nvPr/>
        </p:nvPicPr>
        <p:blipFill>
          <a:blip r:embed="rId3">
            <a:alphaModFix/>
          </a:blip>
          <a:stretch>
            <a:fillRect/>
          </a:stretch>
        </p:blipFill>
        <p:spPr>
          <a:xfrm>
            <a:off x="1020750" y="2361349"/>
            <a:ext cx="766150" cy="273475"/>
          </a:xfrm>
          <a:prstGeom prst="rect">
            <a:avLst/>
          </a:prstGeom>
          <a:noFill/>
          <a:ln>
            <a:noFill/>
          </a:ln>
        </p:spPr>
      </p:pic>
      <p:pic>
        <p:nvPicPr>
          <p:cNvPr id="119" name="Google Shape;119;p22"/>
          <p:cNvPicPr preferRelativeResize="0"/>
          <p:nvPr/>
        </p:nvPicPr>
        <p:blipFill>
          <a:blip r:embed="rId4">
            <a:alphaModFix/>
          </a:blip>
          <a:stretch>
            <a:fillRect/>
          </a:stretch>
        </p:blipFill>
        <p:spPr>
          <a:xfrm>
            <a:off x="1114200" y="3107122"/>
            <a:ext cx="672700" cy="24011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図柄②</a:t>
            </a:r>
            <a:endParaRPr/>
          </a:p>
        </p:txBody>
      </p:sp>
      <p:sp>
        <p:nvSpPr>
          <p:cNvPr id="125" name="Google Shape;125;p23"/>
          <p:cNvSpPr txBox="1">
            <a:spLocks noGrp="1"/>
          </p:cNvSpPr>
          <p:nvPr>
            <p:ph type="body" idx="1"/>
          </p:nvPr>
        </p:nvSpPr>
        <p:spPr>
          <a:xfrm>
            <a:off x="311700" y="1017725"/>
            <a:ext cx="8832300" cy="3663300"/>
          </a:xfrm>
          <a:prstGeom prst="rect">
            <a:avLst/>
          </a:prstGeom>
        </p:spPr>
        <p:txBody>
          <a:bodyPr spcFirstLastPara="1" wrap="square" lIns="91425" tIns="91425" rIns="91425" bIns="91425" anchor="t" anchorCtr="0">
            <a:normAutofit fontScale="55000" lnSpcReduction="20000"/>
          </a:bodyPr>
          <a:lstStyle/>
          <a:p>
            <a:pPr marL="0" lvl="0" indent="0" algn="l" rtl="0">
              <a:spcBef>
                <a:spcPts val="0"/>
              </a:spcBef>
              <a:spcAft>
                <a:spcPts val="0"/>
              </a:spcAft>
              <a:buNone/>
            </a:pPr>
            <a:r>
              <a:rPr lang="ja"/>
              <a:t>小役</a:t>
            </a:r>
            <a:endParaRPr/>
          </a:p>
          <a:p>
            <a:pPr marL="0" lvl="0" indent="0" algn="l" rtl="0">
              <a:spcBef>
                <a:spcPts val="1200"/>
              </a:spcBef>
              <a:spcAft>
                <a:spcPts val="0"/>
              </a:spcAft>
              <a:buNone/>
            </a:pPr>
            <a:r>
              <a:rPr lang="ja"/>
              <a:t>・リプレイ</a:t>
            </a:r>
            <a:endParaRPr/>
          </a:p>
          <a:p>
            <a:pPr marL="0" lvl="0" indent="0" algn="l" rtl="0">
              <a:spcBef>
                <a:spcPts val="1200"/>
              </a:spcBef>
              <a:spcAft>
                <a:spcPts val="0"/>
              </a:spcAft>
              <a:buNone/>
            </a:pPr>
            <a:r>
              <a:rPr lang="ja"/>
              <a:t>再遊戯。もう一度遊技ができる(枚数の払い出しはない)</a:t>
            </a:r>
            <a:endParaRPr/>
          </a:p>
          <a:p>
            <a:pPr marL="0" lvl="0" indent="0" algn="l" rtl="0">
              <a:spcBef>
                <a:spcPts val="1200"/>
              </a:spcBef>
              <a:spcAft>
                <a:spcPts val="0"/>
              </a:spcAft>
              <a:buNone/>
            </a:pPr>
            <a:r>
              <a:rPr lang="ja"/>
              <a:t>・ぶどう</a:t>
            </a:r>
            <a:endParaRPr/>
          </a:p>
          <a:p>
            <a:pPr marL="0" lvl="0" indent="0" algn="l" rtl="0">
              <a:spcBef>
                <a:spcPts val="1200"/>
              </a:spcBef>
              <a:spcAft>
                <a:spcPts val="0"/>
              </a:spcAft>
              <a:buNone/>
            </a:pPr>
            <a:r>
              <a:rPr lang="ja"/>
              <a:t>７枚の払い出し、ただしボーナス中は14枚(特殊役)</a:t>
            </a:r>
            <a:endParaRPr/>
          </a:p>
          <a:p>
            <a:pPr marL="0" lvl="0" indent="0" algn="l" rtl="0">
              <a:spcBef>
                <a:spcPts val="1200"/>
              </a:spcBef>
              <a:spcAft>
                <a:spcPts val="0"/>
              </a:spcAft>
              <a:buNone/>
            </a:pPr>
            <a:r>
              <a:rPr lang="ja"/>
              <a:t>・チェリー</a:t>
            </a:r>
            <a:endParaRPr/>
          </a:p>
          <a:p>
            <a:pPr marL="0" lvl="0" indent="0" algn="l" rtl="0">
              <a:spcBef>
                <a:spcPts val="1200"/>
              </a:spcBef>
              <a:spcAft>
                <a:spcPts val="0"/>
              </a:spcAft>
              <a:buNone/>
            </a:pPr>
            <a:r>
              <a:rPr lang="ja"/>
              <a:t>2枚の払い出し　ほかの図柄は一直線にそろわなければ払い出されないが、</a:t>
            </a:r>
            <a:endParaRPr/>
          </a:p>
          <a:p>
            <a:pPr marL="0" lvl="0" indent="0" algn="l" rtl="0">
              <a:spcBef>
                <a:spcPts val="1200"/>
              </a:spcBef>
              <a:spcAft>
                <a:spcPts val="0"/>
              </a:spcAft>
              <a:buNone/>
            </a:pPr>
            <a:r>
              <a:rPr lang="ja"/>
              <a:t>チェリーは左リールのみに揃っても払い出される　技術介入が必要</a:t>
            </a:r>
            <a:endParaRPr/>
          </a:p>
          <a:p>
            <a:pPr marL="0" lvl="0" indent="0" algn="l" rtl="0">
              <a:spcBef>
                <a:spcPts val="1200"/>
              </a:spcBef>
              <a:spcAft>
                <a:spcPts val="0"/>
              </a:spcAft>
              <a:buNone/>
            </a:pPr>
            <a:r>
              <a:rPr lang="ja"/>
              <a:t>・ベル</a:t>
            </a:r>
            <a:endParaRPr/>
          </a:p>
          <a:p>
            <a:pPr marL="0" lvl="0" indent="0" algn="l" rtl="0">
              <a:spcBef>
                <a:spcPts val="1200"/>
              </a:spcBef>
              <a:spcAft>
                <a:spcPts val="0"/>
              </a:spcAft>
              <a:buNone/>
            </a:pPr>
            <a:r>
              <a:rPr lang="ja"/>
              <a:t>15枚の払い出し　基本揃わず、技術介入が必要</a:t>
            </a:r>
            <a:endParaRPr/>
          </a:p>
          <a:p>
            <a:pPr marL="0" lvl="0" indent="0" algn="l" rtl="0">
              <a:spcBef>
                <a:spcPts val="1200"/>
              </a:spcBef>
              <a:spcAft>
                <a:spcPts val="0"/>
              </a:spcAft>
              <a:buNone/>
            </a:pPr>
            <a:r>
              <a:rPr lang="ja"/>
              <a:t>・ピエロ</a:t>
            </a:r>
            <a:endParaRPr/>
          </a:p>
          <a:p>
            <a:pPr marL="0" lvl="0" indent="0" algn="l" rtl="0">
              <a:spcBef>
                <a:spcPts val="1200"/>
              </a:spcBef>
              <a:spcAft>
                <a:spcPts val="1200"/>
              </a:spcAft>
              <a:buNone/>
            </a:pPr>
            <a:r>
              <a:rPr lang="ja"/>
              <a:t>10枚の払い出し　ベルと同様ほとんどそろわない</a:t>
            </a:r>
            <a:endParaRPr/>
          </a:p>
        </p:txBody>
      </p:sp>
      <p:sp>
        <p:nvSpPr>
          <p:cNvPr id="126" name="Google Shape;126;p23"/>
          <p:cNvSpPr txBox="1"/>
          <p:nvPr/>
        </p:nvSpPr>
        <p:spPr>
          <a:xfrm>
            <a:off x="5160300" y="1382125"/>
            <a:ext cx="2733000" cy="272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1800">
                <a:solidFill>
                  <a:schemeClr val="dk2"/>
                </a:solidFill>
              </a:rPr>
              <a:t>基本的には</a:t>
            </a:r>
            <a:endParaRPr sz="1800">
              <a:solidFill>
                <a:schemeClr val="dk2"/>
              </a:solidFill>
            </a:endParaRPr>
          </a:p>
          <a:p>
            <a:pPr marL="0" lvl="0" indent="0" algn="l" rtl="0">
              <a:spcBef>
                <a:spcPts val="0"/>
              </a:spcBef>
              <a:spcAft>
                <a:spcPts val="0"/>
              </a:spcAft>
              <a:buNone/>
            </a:pPr>
            <a:r>
              <a:rPr lang="ja" sz="1800">
                <a:solidFill>
                  <a:schemeClr val="dk2"/>
                </a:solidFill>
              </a:rPr>
              <a:t>・リプレイ</a:t>
            </a:r>
            <a:endParaRPr sz="1800">
              <a:solidFill>
                <a:schemeClr val="dk2"/>
              </a:solidFill>
            </a:endParaRPr>
          </a:p>
          <a:p>
            <a:pPr marL="0" lvl="0" indent="0" algn="l" rtl="0">
              <a:spcBef>
                <a:spcPts val="0"/>
              </a:spcBef>
              <a:spcAft>
                <a:spcPts val="0"/>
              </a:spcAft>
              <a:buNone/>
            </a:pPr>
            <a:r>
              <a:rPr lang="ja" sz="1800">
                <a:solidFill>
                  <a:schemeClr val="dk2"/>
                </a:solidFill>
              </a:rPr>
              <a:t>・ぶどう</a:t>
            </a:r>
            <a:endParaRPr sz="1800">
              <a:solidFill>
                <a:schemeClr val="dk2"/>
              </a:solidFill>
            </a:endParaRPr>
          </a:p>
          <a:p>
            <a:pPr marL="0" lvl="0" indent="0" algn="l" rtl="0">
              <a:spcBef>
                <a:spcPts val="0"/>
              </a:spcBef>
              <a:spcAft>
                <a:spcPts val="0"/>
              </a:spcAft>
              <a:buNone/>
            </a:pPr>
            <a:r>
              <a:rPr lang="ja" sz="1800">
                <a:solidFill>
                  <a:schemeClr val="dk2"/>
                </a:solidFill>
              </a:rPr>
              <a:t>が頻繁に揃い、</a:t>
            </a:r>
            <a:endParaRPr sz="1800">
              <a:solidFill>
                <a:schemeClr val="dk2"/>
              </a:solidFill>
            </a:endParaRPr>
          </a:p>
          <a:p>
            <a:pPr marL="0" lvl="0" indent="0" algn="l" rtl="0">
              <a:spcBef>
                <a:spcPts val="0"/>
              </a:spcBef>
              <a:spcAft>
                <a:spcPts val="0"/>
              </a:spcAft>
              <a:buNone/>
            </a:pPr>
            <a:r>
              <a:rPr lang="ja" sz="1800">
                <a:solidFill>
                  <a:schemeClr val="dk2"/>
                </a:solidFill>
              </a:rPr>
              <a:t>・ベル</a:t>
            </a:r>
            <a:endParaRPr sz="1800">
              <a:solidFill>
                <a:schemeClr val="dk2"/>
              </a:solidFill>
            </a:endParaRPr>
          </a:p>
          <a:p>
            <a:pPr marL="0" lvl="0" indent="0" algn="l" rtl="0">
              <a:spcBef>
                <a:spcPts val="0"/>
              </a:spcBef>
              <a:spcAft>
                <a:spcPts val="0"/>
              </a:spcAft>
              <a:buNone/>
            </a:pPr>
            <a:r>
              <a:rPr lang="ja" sz="1800">
                <a:solidFill>
                  <a:schemeClr val="dk2"/>
                </a:solidFill>
              </a:rPr>
              <a:t>・ピエロ</a:t>
            </a:r>
            <a:endParaRPr sz="1800">
              <a:solidFill>
                <a:schemeClr val="dk2"/>
              </a:solidFill>
            </a:endParaRPr>
          </a:p>
          <a:p>
            <a:pPr marL="0" lvl="0" indent="0" algn="l" rtl="0">
              <a:spcBef>
                <a:spcPts val="0"/>
              </a:spcBef>
              <a:spcAft>
                <a:spcPts val="0"/>
              </a:spcAft>
              <a:buNone/>
            </a:pPr>
            <a:r>
              <a:rPr lang="ja" sz="1800">
                <a:solidFill>
                  <a:schemeClr val="dk2"/>
                </a:solidFill>
              </a:rPr>
              <a:t>はほとんど揃わない</a:t>
            </a:r>
            <a:endParaRPr sz="1800">
              <a:solidFill>
                <a:schemeClr val="dk2"/>
              </a:solidFill>
            </a:endParaRPr>
          </a:p>
          <a:p>
            <a:pPr marL="0" lvl="0" indent="0" algn="l" rtl="0">
              <a:spcBef>
                <a:spcPts val="0"/>
              </a:spcBef>
              <a:spcAft>
                <a:spcPts val="0"/>
              </a:spcAft>
              <a:buNone/>
            </a:pPr>
            <a:endParaRPr sz="1800">
              <a:solidFill>
                <a:schemeClr val="dk2"/>
              </a:solidFill>
            </a:endParaRPr>
          </a:p>
        </p:txBody>
      </p:sp>
      <p:pic>
        <p:nvPicPr>
          <p:cNvPr id="127" name="Google Shape;127;p23"/>
          <p:cNvPicPr preferRelativeResize="0"/>
          <p:nvPr/>
        </p:nvPicPr>
        <p:blipFill>
          <a:blip r:embed="rId3">
            <a:alphaModFix/>
          </a:blip>
          <a:stretch>
            <a:fillRect/>
          </a:stretch>
        </p:blipFill>
        <p:spPr>
          <a:xfrm>
            <a:off x="929650" y="3995925"/>
            <a:ext cx="633026" cy="344650"/>
          </a:xfrm>
          <a:prstGeom prst="rect">
            <a:avLst/>
          </a:prstGeom>
          <a:noFill/>
          <a:ln>
            <a:noFill/>
          </a:ln>
        </p:spPr>
      </p:pic>
      <p:pic>
        <p:nvPicPr>
          <p:cNvPr id="128" name="Google Shape;128;p23"/>
          <p:cNvPicPr preferRelativeResize="0"/>
          <p:nvPr/>
        </p:nvPicPr>
        <p:blipFill>
          <a:blip r:embed="rId4">
            <a:alphaModFix/>
          </a:blip>
          <a:stretch>
            <a:fillRect/>
          </a:stretch>
        </p:blipFill>
        <p:spPr>
          <a:xfrm>
            <a:off x="1069800" y="2542213"/>
            <a:ext cx="492874" cy="311460"/>
          </a:xfrm>
          <a:prstGeom prst="rect">
            <a:avLst/>
          </a:prstGeom>
          <a:noFill/>
          <a:ln>
            <a:noFill/>
          </a:ln>
        </p:spPr>
      </p:pic>
      <p:pic>
        <p:nvPicPr>
          <p:cNvPr id="129" name="Google Shape;129;p23"/>
          <p:cNvPicPr preferRelativeResize="0"/>
          <p:nvPr/>
        </p:nvPicPr>
        <p:blipFill>
          <a:blip r:embed="rId5">
            <a:alphaModFix/>
          </a:blip>
          <a:stretch>
            <a:fillRect/>
          </a:stretch>
        </p:blipFill>
        <p:spPr>
          <a:xfrm>
            <a:off x="977299" y="3391350"/>
            <a:ext cx="492874" cy="311450"/>
          </a:xfrm>
          <a:prstGeom prst="rect">
            <a:avLst/>
          </a:prstGeom>
          <a:noFill/>
          <a:ln>
            <a:noFill/>
          </a:ln>
        </p:spPr>
      </p:pic>
      <p:pic>
        <p:nvPicPr>
          <p:cNvPr id="130" name="Google Shape;130;p23"/>
          <p:cNvPicPr preferRelativeResize="0"/>
          <p:nvPr/>
        </p:nvPicPr>
        <p:blipFill>
          <a:blip r:embed="rId6">
            <a:alphaModFix/>
          </a:blip>
          <a:stretch>
            <a:fillRect/>
          </a:stretch>
        </p:blipFill>
        <p:spPr>
          <a:xfrm>
            <a:off x="1013538" y="1921000"/>
            <a:ext cx="465241" cy="311450"/>
          </a:xfrm>
          <a:prstGeom prst="rect">
            <a:avLst/>
          </a:prstGeom>
          <a:noFill/>
          <a:ln>
            <a:noFill/>
          </a:ln>
        </p:spPr>
      </p:pic>
      <p:pic>
        <p:nvPicPr>
          <p:cNvPr id="131" name="Google Shape;131;p23"/>
          <p:cNvPicPr preferRelativeResize="0"/>
          <p:nvPr/>
        </p:nvPicPr>
        <p:blipFill>
          <a:blip r:embed="rId7">
            <a:alphaModFix/>
          </a:blip>
          <a:stretch>
            <a:fillRect/>
          </a:stretch>
        </p:blipFill>
        <p:spPr>
          <a:xfrm>
            <a:off x="1069800" y="1348604"/>
            <a:ext cx="492874" cy="30052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リール配列と制御</a:t>
            </a:r>
            <a:endParaRPr/>
          </a:p>
        </p:txBody>
      </p:sp>
      <p:sp>
        <p:nvSpPr>
          <p:cNvPr id="137" name="Google Shape;137;p24"/>
          <p:cNvSpPr txBox="1">
            <a:spLocks noGrp="1"/>
          </p:cNvSpPr>
          <p:nvPr>
            <p:ph type="body" idx="1"/>
          </p:nvPr>
        </p:nvSpPr>
        <p:spPr>
          <a:xfrm>
            <a:off x="2151300" y="1152475"/>
            <a:ext cx="6681000" cy="36405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ja"/>
              <a:t>基本的なパチスロ機は四コマ滑りを導入している</a:t>
            </a:r>
            <a:endParaRPr/>
          </a:p>
          <a:p>
            <a:pPr marL="0" lvl="0" indent="0" algn="l" rtl="0">
              <a:spcBef>
                <a:spcPts val="1200"/>
              </a:spcBef>
              <a:spcAft>
                <a:spcPts val="0"/>
              </a:spcAft>
              <a:buNone/>
            </a:pPr>
            <a:r>
              <a:rPr lang="ja"/>
              <a:t>⇒ボタンを押した瞬間から前後合わせて四図柄までずらしてもよい</a:t>
            </a:r>
            <a:endParaRPr/>
          </a:p>
          <a:p>
            <a:pPr marL="0" lvl="0" indent="0" algn="l" rtl="0">
              <a:spcBef>
                <a:spcPts val="1200"/>
              </a:spcBef>
              <a:spcAft>
                <a:spcPts val="0"/>
              </a:spcAft>
              <a:buNone/>
            </a:pPr>
            <a:r>
              <a:rPr lang="ja"/>
              <a:t>ボタンを押した瞬間の図柄と上下の図柄三図柄を基準とする</a:t>
            </a:r>
            <a:endParaRPr/>
          </a:p>
          <a:p>
            <a:pPr marL="0" lvl="0" indent="0" algn="l" rtl="0">
              <a:spcBef>
                <a:spcPts val="1200"/>
              </a:spcBef>
              <a:spcAft>
                <a:spcPts val="0"/>
              </a:spcAft>
              <a:buNone/>
            </a:pPr>
            <a:r>
              <a:rPr lang="ja"/>
              <a:t>例:リプレイが成立した時点で左リール10の位置で押されたとき</a:t>
            </a:r>
            <a:endParaRPr/>
          </a:p>
          <a:p>
            <a:pPr marL="0" lvl="0" indent="0" algn="l" rtl="0">
              <a:spcBef>
                <a:spcPts val="1200"/>
              </a:spcBef>
              <a:spcAft>
                <a:spcPts val="0"/>
              </a:spcAft>
              <a:buNone/>
            </a:pPr>
            <a:r>
              <a:rPr lang="ja"/>
              <a:t>11,10,9にはリプレイが存在しないので、一コマ滑らせてリプレイの図柄を表示する</a:t>
            </a:r>
            <a:endParaRPr/>
          </a:p>
          <a:p>
            <a:pPr marL="0" lvl="0" indent="0" algn="l" rtl="0">
              <a:spcBef>
                <a:spcPts val="1200"/>
              </a:spcBef>
              <a:spcAft>
                <a:spcPts val="0"/>
              </a:spcAft>
              <a:buNone/>
            </a:pPr>
            <a:endParaRPr/>
          </a:p>
          <a:p>
            <a:pPr marL="0" lvl="0" indent="0" algn="l" rtl="0">
              <a:spcBef>
                <a:spcPts val="1200"/>
              </a:spcBef>
              <a:spcAft>
                <a:spcPts val="1200"/>
              </a:spcAft>
              <a:buNone/>
            </a:pPr>
            <a:r>
              <a:rPr lang="ja"/>
              <a:t>・ブドウ、リプレイは必ず揃えさせるために多く配置され、ベル、７図柄などは技術介入として狙わせるため少なく配置されている</a:t>
            </a:r>
            <a:endParaRPr/>
          </a:p>
        </p:txBody>
      </p:sp>
      <p:pic>
        <p:nvPicPr>
          <p:cNvPr id="138" name="Google Shape;138;p24"/>
          <p:cNvPicPr preferRelativeResize="0"/>
          <p:nvPr/>
        </p:nvPicPr>
        <p:blipFill>
          <a:blip r:embed="rId3">
            <a:alphaModFix/>
          </a:blip>
          <a:stretch>
            <a:fillRect/>
          </a:stretch>
        </p:blipFill>
        <p:spPr>
          <a:xfrm>
            <a:off x="207525" y="861925"/>
            <a:ext cx="1852676" cy="42519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ジャグラーのシステム(通常時)</a:t>
            </a:r>
            <a:endParaRPr/>
          </a:p>
        </p:txBody>
      </p:sp>
      <p:sp>
        <p:nvSpPr>
          <p:cNvPr id="144" name="Google Shape;144;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a:bodyPr>
          <a:lstStyle/>
          <a:p>
            <a:pPr marL="0" lvl="0" indent="0" algn="l" rtl="0">
              <a:spcBef>
                <a:spcPts val="0"/>
              </a:spcBef>
              <a:spcAft>
                <a:spcPts val="0"/>
              </a:spcAft>
              <a:buNone/>
            </a:pPr>
            <a:r>
              <a:rPr lang="ja"/>
              <a:t>通常時</a:t>
            </a:r>
            <a:endParaRPr/>
          </a:p>
          <a:p>
            <a:pPr marL="0" lvl="0" indent="0" algn="l" rtl="0">
              <a:spcBef>
                <a:spcPts val="1200"/>
              </a:spcBef>
              <a:spcAft>
                <a:spcPts val="0"/>
              </a:spcAft>
              <a:buNone/>
            </a:pPr>
            <a:r>
              <a:rPr lang="ja"/>
              <a:t>1.スロットのレバーが押された瞬間乱数を生成する(０～6ビットの16進数の最大、65535)</a:t>
            </a:r>
            <a:endParaRPr/>
          </a:p>
          <a:p>
            <a:pPr marL="0" lvl="0" indent="0" algn="l" rtl="0">
              <a:spcBef>
                <a:spcPts val="1200"/>
              </a:spcBef>
              <a:spcAft>
                <a:spcPts val="0"/>
              </a:spcAft>
              <a:buNone/>
            </a:pPr>
            <a:r>
              <a:rPr lang="ja"/>
              <a:t>2.現在の設定に対する確率を減算していき、０以下になったフラグを成立させる</a:t>
            </a:r>
            <a:endParaRPr/>
          </a:p>
          <a:p>
            <a:pPr marL="0" lvl="0" indent="0" algn="l" rtl="0">
              <a:spcBef>
                <a:spcPts val="1200"/>
              </a:spcBef>
              <a:spcAft>
                <a:spcPts val="0"/>
              </a:spcAft>
              <a:buNone/>
            </a:pPr>
            <a:r>
              <a:rPr lang="ja"/>
              <a:t>例:big成立(1/327)の場合</a:t>
            </a:r>
            <a:endParaRPr/>
          </a:p>
          <a:p>
            <a:pPr marL="0" lvl="0" indent="0" algn="l" rtl="0">
              <a:spcBef>
                <a:spcPts val="1200"/>
              </a:spcBef>
              <a:spcAft>
                <a:spcPts val="0"/>
              </a:spcAft>
              <a:buNone/>
            </a:pPr>
            <a:r>
              <a:rPr lang="ja"/>
              <a:t>65535/327=200のため,乱数が200以下の場合0以下となりbigが成立</a:t>
            </a:r>
            <a:endParaRPr/>
          </a:p>
          <a:p>
            <a:pPr marL="0" lvl="0" indent="0" algn="l" rtl="0">
              <a:spcBef>
                <a:spcPts val="1200"/>
              </a:spcBef>
              <a:spcAft>
                <a:spcPts val="0"/>
              </a:spcAft>
              <a:buNone/>
            </a:pPr>
            <a:r>
              <a:rPr lang="ja"/>
              <a:t>3.フラグに応じたリール制御</a:t>
            </a:r>
            <a:endParaRPr/>
          </a:p>
          <a:p>
            <a:pPr marL="0" lvl="0" indent="0" algn="l" rtl="0">
              <a:spcBef>
                <a:spcPts val="1200"/>
              </a:spcBef>
              <a:spcAft>
                <a:spcPts val="0"/>
              </a:spcAft>
              <a:buNone/>
            </a:pPr>
            <a:r>
              <a:rPr lang="ja"/>
              <a:t>4.(フラグが成立していれば)枚数の払い出し、もしくは再遊戯</a:t>
            </a:r>
            <a:endParaRPr/>
          </a:p>
          <a:p>
            <a:pPr marL="0" lvl="0" indent="0" algn="l" rtl="0">
              <a:spcBef>
                <a:spcPts val="1200"/>
              </a:spcBef>
              <a:spcAft>
                <a:spcPts val="1200"/>
              </a:spcAft>
              <a:buNone/>
            </a:pPr>
            <a:r>
              <a:rPr lang="ja"/>
              <a:t>以上の繰り返し</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設定</a:t>
            </a:r>
            <a:endParaRPr/>
          </a:p>
        </p:txBody>
      </p:sp>
      <p:sp>
        <p:nvSpPr>
          <p:cNvPr id="150" name="Google Shape;150;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t>・パチスロ機には「設定」という６段階の確率テーブルがある</a:t>
            </a:r>
            <a:endParaRPr/>
          </a:p>
          <a:p>
            <a:pPr marL="0" lvl="0" indent="0" algn="l" rtl="0">
              <a:spcBef>
                <a:spcPts val="1200"/>
              </a:spcBef>
              <a:spcAft>
                <a:spcPts val="0"/>
              </a:spcAft>
              <a:buNone/>
            </a:pPr>
            <a:r>
              <a:rPr lang="ja"/>
              <a:t>１がボーナスの確率が大きい：出玉を増やしにくい、６がボーナスの確率が小さい：出玉を増やしやすい</a:t>
            </a:r>
            <a:endParaRPr/>
          </a:p>
          <a:p>
            <a:pPr marL="0" lvl="0" indent="0" algn="l" rtl="0">
              <a:spcBef>
                <a:spcPts val="1200"/>
              </a:spcBef>
              <a:spcAft>
                <a:spcPts val="1200"/>
              </a:spcAft>
              <a:buNone/>
            </a:pPr>
            <a:endParaRPr/>
          </a:p>
        </p:txBody>
      </p:sp>
      <p:pic>
        <p:nvPicPr>
          <p:cNvPr id="151" name="Google Shape;151;p26"/>
          <p:cNvPicPr preferRelativeResize="0"/>
          <p:nvPr/>
        </p:nvPicPr>
        <p:blipFill>
          <a:blip r:embed="rId3">
            <a:alphaModFix/>
          </a:blip>
          <a:stretch>
            <a:fillRect/>
          </a:stretch>
        </p:blipFill>
        <p:spPr>
          <a:xfrm>
            <a:off x="4436725" y="2109225"/>
            <a:ext cx="4148975" cy="2994200"/>
          </a:xfrm>
          <a:prstGeom prst="rect">
            <a:avLst/>
          </a:prstGeom>
          <a:noFill/>
          <a:ln>
            <a:noFill/>
          </a:ln>
        </p:spPr>
      </p:pic>
      <p:sp>
        <p:nvSpPr>
          <p:cNvPr id="152" name="Google Shape;152;p26"/>
          <p:cNvSpPr txBox="1"/>
          <p:nvPr/>
        </p:nvSpPr>
        <p:spPr>
          <a:xfrm>
            <a:off x="1047300" y="3538800"/>
            <a:ext cx="3524700" cy="79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1800">
                <a:solidFill>
                  <a:schemeClr val="dk2"/>
                </a:solidFill>
              </a:rPr>
              <a:t>例：アイムジャグラーの設定</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ja"/>
              <a:t>ジャグラーのソフト(ボーナス時)</a:t>
            </a:r>
            <a:endParaRPr/>
          </a:p>
          <a:p>
            <a:pPr marL="0" lvl="0" indent="0" algn="l" rtl="0">
              <a:spcBef>
                <a:spcPts val="0"/>
              </a:spcBef>
              <a:spcAft>
                <a:spcPts val="0"/>
              </a:spcAft>
              <a:buNone/>
            </a:pPr>
            <a:endParaRPr/>
          </a:p>
        </p:txBody>
      </p:sp>
      <p:sp>
        <p:nvSpPr>
          <p:cNvPr id="158" name="Google Shape;158;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ja"/>
              <a:t>1.ボーナスの成立　この時点では払い出しはない　ボーナス状態に移行</a:t>
            </a:r>
            <a:endParaRPr/>
          </a:p>
          <a:p>
            <a:pPr marL="0" lvl="0" indent="0" algn="l" rtl="0">
              <a:spcBef>
                <a:spcPts val="1200"/>
              </a:spcBef>
              <a:spcAft>
                <a:spcPts val="0"/>
              </a:spcAft>
              <a:buNone/>
            </a:pPr>
            <a:r>
              <a:rPr lang="ja"/>
              <a:t>2.レバーを引いた際に特殊役のフラグが必ず成立する　</a:t>
            </a:r>
            <a:endParaRPr/>
          </a:p>
          <a:p>
            <a:pPr marL="0" lvl="0" indent="0" algn="l" rtl="0">
              <a:spcBef>
                <a:spcPts val="1200"/>
              </a:spcBef>
              <a:spcAft>
                <a:spcPts val="0"/>
              </a:spcAft>
              <a:buNone/>
            </a:pPr>
            <a:r>
              <a:rPr lang="ja"/>
              <a:t>※ボーナス状態では抽選は行わない</a:t>
            </a:r>
            <a:endParaRPr/>
          </a:p>
          <a:p>
            <a:pPr marL="0" lvl="0" indent="0" algn="l" rtl="0">
              <a:spcBef>
                <a:spcPts val="1200"/>
              </a:spcBef>
              <a:spcAft>
                <a:spcPts val="0"/>
              </a:spcAft>
              <a:buNone/>
            </a:pPr>
            <a:r>
              <a:rPr lang="ja"/>
              <a:t>3.特殊役を揃えるようリール制御</a:t>
            </a:r>
            <a:endParaRPr/>
          </a:p>
          <a:p>
            <a:pPr marL="0" lvl="0" indent="0" algn="l" rtl="0">
              <a:spcBef>
                <a:spcPts val="1200"/>
              </a:spcBef>
              <a:spcAft>
                <a:spcPts val="0"/>
              </a:spcAft>
              <a:buNone/>
            </a:pPr>
            <a:r>
              <a:rPr lang="ja"/>
              <a:t>4.枚数の払い出し</a:t>
            </a:r>
            <a:endParaRPr/>
          </a:p>
          <a:p>
            <a:pPr marL="0" lvl="0" indent="0" algn="l" rtl="0">
              <a:spcBef>
                <a:spcPts val="1200"/>
              </a:spcBef>
              <a:spcAft>
                <a:spcPts val="0"/>
              </a:spcAft>
              <a:buNone/>
            </a:pPr>
            <a:r>
              <a:rPr lang="ja"/>
              <a:t>以上を特定枚数を上回る払い出し枚数になるまで繰り返し、上回った時点でボーナス状態を終了する</a:t>
            </a:r>
            <a:endParaRPr/>
          </a:p>
          <a:p>
            <a:pPr marL="0" lvl="0" indent="0" algn="l" rtl="0">
              <a:spcBef>
                <a:spcPts val="120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ジャグラーのハード</a:t>
            </a:r>
            <a:endParaRPr/>
          </a:p>
        </p:txBody>
      </p:sp>
      <p:sp>
        <p:nvSpPr>
          <p:cNvPr id="164" name="Google Shape;164;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ja"/>
              <a:t>・スロットレバー</a:t>
            </a:r>
            <a:endParaRPr/>
          </a:p>
          <a:p>
            <a:pPr marL="0" lvl="0" indent="0" algn="l" rtl="0">
              <a:spcBef>
                <a:spcPts val="1200"/>
              </a:spcBef>
              <a:spcAft>
                <a:spcPts val="0"/>
              </a:spcAft>
              <a:buNone/>
            </a:pPr>
            <a:r>
              <a:rPr lang="ja"/>
              <a:t>・</a:t>
            </a:r>
            <a:r>
              <a:rPr lang="ja">
                <a:solidFill>
                  <a:srgbClr val="FF0000"/>
                </a:solidFill>
              </a:rPr>
              <a:t>ベットボタン</a:t>
            </a:r>
            <a:endParaRPr>
              <a:solidFill>
                <a:srgbClr val="FF0000"/>
              </a:solidFill>
            </a:endParaRPr>
          </a:p>
          <a:p>
            <a:pPr marL="0" lvl="0" indent="0" algn="l" rtl="0">
              <a:spcBef>
                <a:spcPts val="1200"/>
              </a:spcBef>
              <a:spcAft>
                <a:spcPts val="0"/>
              </a:spcAft>
              <a:buNone/>
            </a:pPr>
            <a:r>
              <a:rPr lang="ja"/>
              <a:t>・</a:t>
            </a:r>
            <a:r>
              <a:rPr lang="ja">
                <a:solidFill>
                  <a:srgbClr val="00FF00"/>
                </a:solidFill>
              </a:rPr>
              <a:t>ペイアウトボタン</a:t>
            </a:r>
            <a:endParaRPr>
              <a:solidFill>
                <a:srgbClr val="00FF00"/>
              </a:solidFill>
            </a:endParaRPr>
          </a:p>
          <a:p>
            <a:pPr marL="0" lvl="0" indent="0" algn="l" rtl="0">
              <a:spcBef>
                <a:spcPts val="1200"/>
              </a:spcBef>
              <a:spcAft>
                <a:spcPts val="0"/>
              </a:spcAft>
              <a:buNone/>
            </a:pPr>
            <a:r>
              <a:rPr lang="ja"/>
              <a:t>・</a:t>
            </a:r>
            <a:r>
              <a:rPr lang="ja">
                <a:solidFill>
                  <a:srgbClr val="0000FF"/>
                </a:solidFill>
              </a:rPr>
              <a:t>ストップボタン×３</a:t>
            </a:r>
            <a:endParaRPr>
              <a:solidFill>
                <a:srgbClr val="0000FF"/>
              </a:solidFill>
            </a:endParaRPr>
          </a:p>
          <a:p>
            <a:pPr marL="0" lvl="0" indent="0" algn="l" rtl="0">
              <a:spcBef>
                <a:spcPts val="1200"/>
              </a:spcBef>
              <a:spcAft>
                <a:spcPts val="0"/>
              </a:spcAft>
              <a:buNone/>
            </a:pPr>
            <a:r>
              <a:rPr lang="ja"/>
              <a:t>・</a:t>
            </a:r>
            <a:r>
              <a:rPr lang="ja">
                <a:solidFill>
                  <a:srgbClr val="9900FF"/>
                </a:solidFill>
              </a:rPr>
              <a:t>GOGOランプ</a:t>
            </a:r>
            <a:endParaRPr>
              <a:solidFill>
                <a:srgbClr val="9900FF"/>
              </a:solidFill>
            </a:endParaRPr>
          </a:p>
          <a:p>
            <a:pPr marL="0" lvl="0" indent="0" algn="l" rtl="0">
              <a:spcBef>
                <a:spcPts val="1200"/>
              </a:spcBef>
              <a:spcAft>
                <a:spcPts val="0"/>
              </a:spcAft>
              <a:buNone/>
            </a:pPr>
            <a:r>
              <a:rPr lang="ja"/>
              <a:t>・</a:t>
            </a:r>
            <a:r>
              <a:rPr lang="ja">
                <a:solidFill>
                  <a:srgbClr val="FF00FF"/>
                </a:solidFill>
              </a:rPr>
              <a:t>7セグ×３(２桁×２、３桁×１)</a:t>
            </a:r>
            <a:endParaRPr>
              <a:solidFill>
                <a:srgbClr val="FF00FF"/>
              </a:solidFill>
            </a:endParaRPr>
          </a:p>
          <a:p>
            <a:pPr marL="0" lvl="0" indent="0" algn="l" rtl="0">
              <a:spcBef>
                <a:spcPts val="1200"/>
              </a:spcBef>
              <a:spcAft>
                <a:spcPts val="0"/>
              </a:spcAft>
              <a:buNone/>
            </a:pPr>
            <a:r>
              <a:rPr lang="ja"/>
              <a:t>・</a:t>
            </a:r>
            <a:r>
              <a:rPr lang="ja">
                <a:solidFill>
                  <a:srgbClr val="741B47"/>
                </a:solidFill>
              </a:rPr>
              <a:t>リール×３</a:t>
            </a:r>
            <a:br>
              <a:rPr lang="ja"/>
            </a:br>
            <a:r>
              <a:rPr lang="ja"/>
              <a:t>・</a:t>
            </a:r>
            <a:r>
              <a:rPr lang="ja">
                <a:solidFill>
                  <a:srgbClr val="274E13"/>
                </a:solidFill>
              </a:rPr>
              <a:t>メダル投入口</a:t>
            </a:r>
            <a:endParaRPr>
              <a:solidFill>
                <a:srgbClr val="274E13"/>
              </a:solidFill>
            </a:endParaRPr>
          </a:p>
          <a:p>
            <a:pPr marL="0" lvl="0" indent="0" algn="l" rtl="0">
              <a:spcBef>
                <a:spcPts val="1200"/>
              </a:spcBef>
              <a:spcAft>
                <a:spcPts val="1200"/>
              </a:spcAft>
              <a:buNone/>
            </a:pPr>
            <a:r>
              <a:rPr lang="ja">
                <a:solidFill>
                  <a:srgbClr val="7F6000"/>
                </a:solidFill>
              </a:rPr>
              <a:t>・メダル払い出し口</a:t>
            </a:r>
            <a:endParaRPr>
              <a:solidFill>
                <a:srgbClr val="7F6000"/>
              </a:solidFill>
            </a:endParaRPr>
          </a:p>
        </p:txBody>
      </p:sp>
      <p:pic>
        <p:nvPicPr>
          <p:cNvPr id="165" name="Google Shape;165;p28"/>
          <p:cNvPicPr preferRelativeResize="0"/>
          <p:nvPr/>
        </p:nvPicPr>
        <p:blipFill>
          <a:blip r:embed="rId3">
            <a:alphaModFix/>
          </a:blip>
          <a:stretch>
            <a:fillRect/>
          </a:stretch>
        </p:blipFill>
        <p:spPr>
          <a:xfrm>
            <a:off x="4698125" y="351975"/>
            <a:ext cx="3052150" cy="4662976"/>
          </a:xfrm>
          <a:prstGeom prst="rect">
            <a:avLst/>
          </a:prstGeom>
          <a:noFill/>
          <a:ln>
            <a:noFill/>
          </a:ln>
        </p:spPr>
      </p:pic>
      <p:cxnSp>
        <p:nvCxnSpPr>
          <p:cNvPr id="166" name="Google Shape;166;p28"/>
          <p:cNvCxnSpPr/>
          <p:nvPr/>
        </p:nvCxnSpPr>
        <p:spPr>
          <a:xfrm>
            <a:off x="2081225" y="1331425"/>
            <a:ext cx="3475800" cy="1513500"/>
          </a:xfrm>
          <a:prstGeom prst="straightConnector1">
            <a:avLst/>
          </a:prstGeom>
          <a:noFill/>
          <a:ln w="9525" cap="flat" cmpd="sng">
            <a:solidFill>
              <a:schemeClr val="dk1"/>
            </a:solidFill>
            <a:prstDash val="solid"/>
            <a:round/>
            <a:headEnd type="none" w="med" len="med"/>
            <a:tailEnd type="triangle" w="med" len="med"/>
          </a:ln>
        </p:spPr>
      </p:cxnSp>
      <p:cxnSp>
        <p:nvCxnSpPr>
          <p:cNvPr id="167" name="Google Shape;167;p28"/>
          <p:cNvCxnSpPr/>
          <p:nvPr/>
        </p:nvCxnSpPr>
        <p:spPr>
          <a:xfrm>
            <a:off x="1842975" y="1723850"/>
            <a:ext cx="3216300" cy="1226400"/>
          </a:xfrm>
          <a:prstGeom prst="straightConnector1">
            <a:avLst/>
          </a:prstGeom>
          <a:noFill/>
          <a:ln w="9525" cap="flat" cmpd="sng">
            <a:solidFill>
              <a:srgbClr val="FF0000"/>
            </a:solidFill>
            <a:prstDash val="solid"/>
            <a:round/>
            <a:headEnd type="none" w="med" len="med"/>
            <a:tailEnd type="triangle" w="med" len="med"/>
          </a:ln>
        </p:spPr>
      </p:cxnSp>
      <p:cxnSp>
        <p:nvCxnSpPr>
          <p:cNvPr id="168" name="Google Shape;168;p28"/>
          <p:cNvCxnSpPr/>
          <p:nvPr/>
        </p:nvCxnSpPr>
        <p:spPr>
          <a:xfrm>
            <a:off x="2172325" y="2123275"/>
            <a:ext cx="3125400" cy="855000"/>
          </a:xfrm>
          <a:prstGeom prst="straightConnector1">
            <a:avLst/>
          </a:prstGeom>
          <a:noFill/>
          <a:ln w="9525" cap="flat" cmpd="sng">
            <a:solidFill>
              <a:srgbClr val="00FF00"/>
            </a:solidFill>
            <a:prstDash val="solid"/>
            <a:round/>
            <a:headEnd type="none" w="med" len="med"/>
            <a:tailEnd type="triangle" w="med" len="med"/>
          </a:ln>
        </p:spPr>
      </p:cxnSp>
      <p:cxnSp>
        <p:nvCxnSpPr>
          <p:cNvPr id="169" name="Google Shape;169;p28"/>
          <p:cNvCxnSpPr/>
          <p:nvPr/>
        </p:nvCxnSpPr>
        <p:spPr>
          <a:xfrm>
            <a:off x="2319475" y="2459425"/>
            <a:ext cx="3601800" cy="385500"/>
          </a:xfrm>
          <a:prstGeom prst="straightConnector1">
            <a:avLst/>
          </a:prstGeom>
          <a:noFill/>
          <a:ln w="9525" cap="flat" cmpd="sng">
            <a:solidFill>
              <a:srgbClr val="0000FF"/>
            </a:solidFill>
            <a:prstDash val="solid"/>
            <a:round/>
            <a:headEnd type="none" w="med" len="med"/>
            <a:tailEnd type="triangle" w="med" len="med"/>
          </a:ln>
        </p:spPr>
      </p:cxnSp>
      <p:cxnSp>
        <p:nvCxnSpPr>
          <p:cNvPr id="170" name="Google Shape;170;p28"/>
          <p:cNvCxnSpPr/>
          <p:nvPr/>
        </p:nvCxnSpPr>
        <p:spPr>
          <a:xfrm rot="10800000" flipH="1">
            <a:off x="1927050" y="2487750"/>
            <a:ext cx="3181500" cy="357300"/>
          </a:xfrm>
          <a:prstGeom prst="straightConnector1">
            <a:avLst/>
          </a:prstGeom>
          <a:noFill/>
          <a:ln w="9525" cap="flat" cmpd="sng">
            <a:solidFill>
              <a:srgbClr val="9900FF"/>
            </a:solidFill>
            <a:prstDash val="solid"/>
            <a:round/>
            <a:headEnd type="none" w="med" len="med"/>
            <a:tailEnd type="triangle" w="med" len="med"/>
          </a:ln>
        </p:spPr>
      </p:cxnSp>
      <p:cxnSp>
        <p:nvCxnSpPr>
          <p:cNvPr id="171" name="Google Shape;171;p28"/>
          <p:cNvCxnSpPr/>
          <p:nvPr/>
        </p:nvCxnSpPr>
        <p:spPr>
          <a:xfrm rot="10800000" flipH="1">
            <a:off x="3160375" y="2571800"/>
            <a:ext cx="2823900" cy="707700"/>
          </a:xfrm>
          <a:prstGeom prst="straightConnector1">
            <a:avLst/>
          </a:prstGeom>
          <a:noFill/>
          <a:ln w="9525" cap="flat" cmpd="sng">
            <a:solidFill>
              <a:srgbClr val="FF00FF"/>
            </a:solidFill>
            <a:prstDash val="solid"/>
            <a:round/>
            <a:headEnd type="none" w="med" len="med"/>
            <a:tailEnd type="triangle" w="med" len="med"/>
          </a:ln>
        </p:spPr>
      </p:cxnSp>
      <p:cxnSp>
        <p:nvCxnSpPr>
          <p:cNvPr id="172" name="Google Shape;172;p28"/>
          <p:cNvCxnSpPr/>
          <p:nvPr/>
        </p:nvCxnSpPr>
        <p:spPr>
          <a:xfrm rot="10800000" flipH="1">
            <a:off x="1478575" y="2060325"/>
            <a:ext cx="4653000" cy="1513500"/>
          </a:xfrm>
          <a:prstGeom prst="straightConnector1">
            <a:avLst/>
          </a:prstGeom>
          <a:noFill/>
          <a:ln w="9525" cap="flat" cmpd="sng">
            <a:solidFill>
              <a:srgbClr val="741B47"/>
            </a:solidFill>
            <a:prstDash val="solid"/>
            <a:round/>
            <a:headEnd type="none" w="med" len="med"/>
            <a:tailEnd type="triangle" w="med" len="med"/>
          </a:ln>
        </p:spPr>
      </p:cxnSp>
      <p:cxnSp>
        <p:nvCxnSpPr>
          <p:cNvPr id="173" name="Google Shape;173;p28"/>
          <p:cNvCxnSpPr/>
          <p:nvPr/>
        </p:nvCxnSpPr>
        <p:spPr>
          <a:xfrm rot="10800000" flipH="1">
            <a:off x="1800925" y="2648925"/>
            <a:ext cx="5094600" cy="1198200"/>
          </a:xfrm>
          <a:prstGeom prst="straightConnector1">
            <a:avLst/>
          </a:prstGeom>
          <a:noFill/>
          <a:ln w="9525" cap="flat" cmpd="sng">
            <a:solidFill>
              <a:srgbClr val="274E13"/>
            </a:solidFill>
            <a:prstDash val="solid"/>
            <a:round/>
            <a:headEnd type="none" w="med" len="med"/>
            <a:tailEnd type="triangle" w="med" len="med"/>
          </a:ln>
        </p:spPr>
      </p:cxnSp>
      <p:cxnSp>
        <p:nvCxnSpPr>
          <p:cNvPr id="174" name="Google Shape;174;p28"/>
          <p:cNvCxnSpPr/>
          <p:nvPr/>
        </p:nvCxnSpPr>
        <p:spPr>
          <a:xfrm>
            <a:off x="2179325" y="4218500"/>
            <a:ext cx="3966300" cy="287400"/>
          </a:xfrm>
          <a:prstGeom prst="straightConnector1">
            <a:avLst/>
          </a:prstGeom>
          <a:noFill/>
          <a:ln w="9525" cap="flat" cmpd="sng">
            <a:solidFill>
              <a:srgbClr val="7F6000"/>
            </a:solidFill>
            <a:prstDash val="solid"/>
            <a:round/>
            <a:headEnd type="none" w="med" len="med"/>
            <a:tailEnd type="triangl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各部説明</a:t>
            </a:r>
            <a:endParaRPr/>
          </a:p>
        </p:txBody>
      </p:sp>
      <p:sp>
        <p:nvSpPr>
          <p:cNvPr id="180" name="Google Shape;180;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10000"/>
          </a:bodyPr>
          <a:lstStyle/>
          <a:p>
            <a:pPr marL="0" lvl="0" indent="0" algn="l" rtl="0">
              <a:spcBef>
                <a:spcPts val="0"/>
              </a:spcBef>
              <a:spcAft>
                <a:spcPts val="0"/>
              </a:spcAft>
              <a:buClr>
                <a:schemeClr val="dk1"/>
              </a:buClr>
              <a:buSzPct val="61111"/>
              <a:buFont typeface="Arial"/>
              <a:buNone/>
            </a:pPr>
            <a:r>
              <a:rPr lang="ja"/>
              <a:t>・スロットレバー　遊技を開始するためのレバー　ここを引いた瞬間に確率抽選を行う</a:t>
            </a:r>
            <a:endParaRPr/>
          </a:p>
          <a:p>
            <a:pPr marL="0" lvl="0" indent="0" algn="l" rtl="0">
              <a:spcBef>
                <a:spcPts val="1200"/>
              </a:spcBef>
              <a:spcAft>
                <a:spcPts val="0"/>
              </a:spcAft>
              <a:buClr>
                <a:schemeClr val="dk1"/>
              </a:buClr>
              <a:buSzPct val="61111"/>
              <a:buFont typeface="Arial"/>
              <a:buNone/>
            </a:pPr>
            <a:r>
              <a:rPr lang="ja"/>
              <a:t>・</a:t>
            </a:r>
            <a:r>
              <a:rPr lang="ja">
                <a:solidFill>
                  <a:srgbClr val="FF0000"/>
                </a:solidFill>
              </a:rPr>
              <a:t>ベットボタン　</a:t>
            </a:r>
            <a:r>
              <a:rPr lang="ja">
                <a:solidFill>
                  <a:schemeClr val="dk1"/>
                </a:solidFill>
              </a:rPr>
              <a:t>遊技するためのメダルを掛けるボタン</a:t>
            </a:r>
            <a:endParaRPr>
              <a:solidFill>
                <a:schemeClr val="dk1"/>
              </a:solidFill>
            </a:endParaRPr>
          </a:p>
          <a:p>
            <a:pPr marL="0" lvl="0" indent="0" algn="l" rtl="0">
              <a:spcBef>
                <a:spcPts val="1200"/>
              </a:spcBef>
              <a:spcAft>
                <a:spcPts val="0"/>
              </a:spcAft>
              <a:buClr>
                <a:schemeClr val="dk1"/>
              </a:buClr>
              <a:buSzPct val="61111"/>
              <a:buFont typeface="Arial"/>
              <a:buNone/>
            </a:pPr>
            <a:r>
              <a:rPr lang="ja"/>
              <a:t>・</a:t>
            </a:r>
            <a:r>
              <a:rPr lang="ja">
                <a:solidFill>
                  <a:srgbClr val="00FF00"/>
                </a:solidFill>
              </a:rPr>
              <a:t>ペイアウトボタン　</a:t>
            </a:r>
            <a:r>
              <a:rPr lang="ja">
                <a:solidFill>
                  <a:schemeClr val="dk1"/>
                </a:solidFill>
              </a:rPr>
              <a:t>投入されているメダルを払い出す</a:t>
            </a:r>
            <a:endParaRPr>
              <a:solidFill>
                <a:schemeClr val="dk1"/>
              </a:solidFill>
            </a:endParaRPr>
          </a:p>
          <a:p>
            <a:pPr marL="0" lvl="0" indent="0" algn="l" rtl="0">
              <a:spcBef>
                <a:spcPts val="1200"/>
              </a:spcBef>
              <a:spcAft>
                <a:spcPts val="0"/>
              </a:spcAft>
              <a:buClr>
                <a:schemeClr val="dk1"/>
              </a:buClr>
              <a:buSzPct val="61111"/>
              <a:buFont typeface="Arial"/>
              <a:buNone/>
            </a:pPr>
            <a:r>
              <a:rPr lang="ja"/>
              <a:t>・</a:t>
            </a:r>
            <a:r>
              <a:rPr lang="ja">
                <a:solidFill>
                  <a:srgbClr val="0000FF"/>
                </a:solidFill>
              </a:rPr>
              <a:t>ストップボタン×３　</a:t>
            </a:r>
            <a:r>
              <a:rPr lang="ja">
                <a:solidFill>
                  <a:schemeClr val="dk1"/>
                </a:solidFill>
              </a:rPr>
              <a:t>リールを止める　それぞれのボタンがそれぞれのリールに対応している</a:t>
            </a:r>
            <a:endParaRPr>
              <a:solidFill>
                <a:schemeClr val="dk1"/>
              </a:solidFill>
            </a:endParaRPr>
          </a:p>
          <a:p>
            <a:pPr marL="0" lvl="0" indent="0" algn="l" rtl="0">
              <a:spcBef>
                <a:spcPts val="1200"/>
              </a:spcBef>
              <a:spcAft>
                <a:spcPts val="0"/>
              </a:spcAft>
              <a:buClr>
                <a:schemeClr val="dk1"/>
              </a:buClr>
              <a:buSzPct val="61111"/>
              <a:buFont typeface="Arial"/>
              <a:buNone/>
            </a:pPr>
            <a:r>
              <a:rPr lang="ja"/>
              <a:t>・</a:t>
            </a:r>
            <a:r>
              <a:rPr lang="ja">
                <a:solidFill>
                  <a:srgbClr val="9900FF"/>
                </a:solidFill>
              </a:rPr>
              <a:t>GOGOランプ　</a:t>
            </a:r>
            <a:r>
              <a:rPr lang="ja">
                <a:solidFill>
                  <a:schemeClr val="dk1"/>
                </a:solidFill>
              </a:rPr>
              <a:t>ボーナスが確定した際に光る</a:t>
            </a:r>
            <a:endParaRPr>
              <a:solidFill>
                <a:schemeClr val="dk1"/>
              </a:solidFill>
            </a:endParaRPr>
          </a:p>
          <a:p>
            <a:pPr marL="0" lvl="0" indent="0" algn="l" rtl="0">
              <a:spcBef>
                <a:spcPts val="1200"/>
              </a:spcBef>
              <a:spcAft>
                <a:spcPts val="0"/>
              </a:spcAft>
              <a:buClr>
                <a:schemeClr val="dk1"/>
              </a:buClr>
              <a:buSzPct val="61111"/>
              <a:buFont typeface="Arial"/>
              <a:buNone/>
            </a:pPr>
            <a:r>
              <a:rPr lang="ja"/>
              <a:t>・</a:t>
            </a:r>
            <a:r>
              <a:rPr lang="ja">
                <a:solidFill>
                  <a:srgbClr val="FF00FF"/>
                </a:solidFill>
              </a:rPr>
              <a:t>7セグ×３(２桁×２、３桁×１)　</a:t>
            </a:r>
            <a:r>
              <a:rPr lang="ja">
                <a:solidFill>
                  <a:schemeClr val="dk1"/>
                </a:solidFill>
              </a:rPr>
              <a:t>左から　投入されている枚数・ボーナス時の枚数カウント・払い出し枚数</a:t>
            </a:r>
            <a:endParaRPr>
              <a:solidFill>
                <a:schemeClr val="dk1"/>
              </a:solidFill>
            </a:endParaRPr>
          </a:p>
          <a:p>
            <a:pPr marL="0" lvl="0" indent="0" algn="l" rtl="0">
              <a:spcBef>
                <a:spcPts val="1200"/>
              </a:spcBef>
              <a:spcAft>
                <a:spcPts val="0"/>
              </a:spcAft>
              <a:buClr>
                <a:schemeClr val="dk1"/>
              </a:buClr>
              <a:buSzPct val="61111"/>
              <a:buFont typeface="Arial"/>
              <a:buNone/>
            </a:pPr>
            <a:r>
              <a:rPr lang="ja"/>
              <a:t>・</a:t>
            </a:r>
            <a:r>
              <a:rPr lang="ja">
                <a:solidFill>
                  <a:srgbClr val="741B47"/>
                </a:solidFill>
              </a:rPr>
              <a:t>リール×３　</a:t>
            </a:r>
            <a:r>
              <a:rPr lang="ja">
                <a:solidFill>
                  <a:schemeClr val="dk1"/>
                </a:solidFill>
              </a:rPr>
              <a:t>スロットレバーを引くと回転し、ストップボタンで停止</a:t>
            </a:r>
            <a:br>
              <a:rPr lang="ja"/>
            </a:br>
            <a:r>
              <a:rPr lang="ja"/>
              <a:t>・</a:t>
            </a:r>
            <a:r>
              <a:rPr lang="ja">
                <a:solidFill>
                  <a:srgbClr val="274E13"/>
                </a:solidFill>
              </a:rPr>
              <a:t>メダル投入口　</a:t>
            </a:r>
            <a:r>
              <a:rPr lang="ja">
                <a:solidFill>
                  <a:schemeClr val="dk1"/>
                </a:solidFill>
              </a:rPr>
              <a:t>メダルを投入する場所　リール回転中にはメダルを入れることができない</a:t>
            </a:r>
            <a:endParaRPr>
              <a:solidFill>
                <a:schemeClr val="dk1"/>
              </a:solidFill>
            </a:endParaRPr>
          </a:p>
          <a:p>
            <a:pPr marL="0" lvl="0" indent="0" algn="l" rtl="0">
              <a:spcBef>
                <a:spcPts val="1200"/>
              </a:spcBef>
              <a:spcAft>
                <a:spcPts val="0"/>
              </a:spcAft>
              <a:buClr>
                <a:schemeClr val="dk1"/>
              </a:buClr>
              <a:buSzPct val="61111"/>
              <a:buFont typeface="Arial"/>
              <a:buNone/>
            </a:pPr>
            <a:r>
              <a:rPr lang="ja">
                <a:solidFill>
                  <a:srgbClr val="7F6000"/>
                </a:solidFill>
              </a:rPr>
              <a:t>・メダル払い出し口　</a:t>
            </a:r>
            <a:r>
              <a:rPr lang="ja">
                <a:solidFill>
                  <a:schemeClr val="dk1"/>
                </a:solidFill>
              </a:rPr>
              <a:t>別名ホッパー　ペイアウト、貯蓄枚数(50枚)を超える払い出しの場合ここからメダルが出る</a:t>
            </a:r>
            <a:endParaRPr>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フローチャートの説明</a:t>
            </a:r>
            <a:endParaRPr/>
          </a:p>
        </p:txBody>
      </p:sp>
      <p:sp>
        <p:nvSpPr>
          <p:cNvPr id="186" name="Google Shape;186;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t>以上を踏まえたフローチャート（説明不足な点が多かった）</a:t>
            </a:r>
            <a:endParaRPr/>
          </a:p>
          <a:p>
            <a:pPr marL="0" lvl="0" indent="0" algn="l" rtl="0">
              <a:spcBef>
                <a:spcPts val="1200"/>
              </a:spcBef>
              <a:spcAft>
                <a:spcPts val="0"/>
              </a:spcAft>
              <a:buNone/>
            </a:pPr>
            <a:r>
              <a:rPr lang="ja"/>
              <a:t>7セグc→投入枚数の表示</a:t>
            </a:r>
            <a:endParaRPr/>
          </a:p>
          <a:p>
            <a:pPr marL="0" lvl="0" indent="0" algn="l" rtl="0">
              <a:spcBef>
                <a:spcPts val="1200"/>
              </a:spcBef>
              <a:spcAft>
                <a:spcPts val="0"/>
              </a:spcAft>
              <a:buNone/>
            </a:pPr>
            <a:r>
              <a:rPr lang="ja"/>
              <a:t>7セグco→ボーナス中のメダルのカウント</a:t>
            </a:r>
            <a:endParaRPr/>
          </a:p>
          <a:p>
            <a:pPr marL="0" lvl="0" indent="0" algn="l" rtl="0">
              <a:spcBef>
                <a:spcPts val="1200"/>
              </a:spcBef>
              <a:spcAft>
                <a:spcPts val="0"/>
              </a:spcAft>
              <a:buNone/>
            </a:pPr>
            <a:r>
              <a:rPr lang="ja"/>
              <a:t>7セグp→払い出し枚数の表示</a:t>
            </a:r>
            <a:endParaRPr/>
          </a:p>
          <a:p>
            <a:pPr marL="0" lvl="0" indent="0" algn="l" rtl="0">
              <a:spcBef>
                <a:spcPts val="1200"/>
              </a:spcBef>
              <a:spcAft>
                <a:spcPts val="12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191" name="Google Shape;191;p31"/>
          <p:cNvPicPr preferRelativeResize="0"/>
          <p:nvPr/>
        </p:nvPicPr>
        <p:blipFill>
          <a:blip r:embed="rId3">
            <a:alphaModFix/>
          </a:blip>
          <a:stretch>
            <a:fillRect/>
          </a:stretch>
        </p:blipFill>
        <p:spPr>
          <a:xfrm>
            <a:off x="1486523" y="6"/>
            <a:ext cx="6170972" cy="51434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どこまで再現したいのか</a:t>
            </a:r>
            <a:endParaRPr/>
          </a:p>
        </p:txBody>
      </p:sp>
      <p:sp>
        <p:nvSpPr>
          <p:cNvPr id="197" name="Google Shape;197;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t>再現要素(ソフト面)</a:t>
            </a:r>
            <a:endParaRPr/>
          </a:p>
          <a:p>
            <a:pPr marL="0" lvl="0" indent="0" algn="l" rtl="0">
              <a:spcBef>
                <a:spcPts val="1200"/>
              </a:spcBef>
              <a:spcAft>
                <a:spcPts val="0"/>
              </a:spcAft>
              <a:buNone/>
            </a:pPr>
            <a:r>
              <a:rPr lang="ja"/>
              <a:t>・フラグ抽選</a:t>
            </a:r>
            <a:endParaRPr/>
          </a:p>
          <a:p>
            <a:pPr marL="0" lvl="0" indent="0" algn="l" rtl="0">
              <a:spcBef>
                <a:spcPts val="1200"/>
              </a:spcBef>
              <a:spcAft>
                <a:spcPts val="0"/>
              </a:spcAft>
              <a:buNone/>
            </a:pPr>
            <a:r>
              <a:rPr lang="ja"/>
              <a:t>・フラグに対するリール制御</a:t>
            </a:r>
            <a:endParaRPr/>
          </a:p>
          <a:p>
            <a:pPr marL="0" lvl="0" indent="0" algn="l" rtl="0">
              <a:spcBef>
                <a:spcPts val="1200"/>
              </a:spcBef>
              <a:spcAft>
                <a:spcPts val="0"/>
              </a:spcAft>
              <a:buNone/>
            </a:pPr>
            <a:r>
              <a:rPr lang="ja"/>
              <a:t>・回転数の表示？</a:t>
            </a:r>
            <a:endParaRPr/>
          </a:p>
          <a:p>
            <a:pPr marL="0" lvl="0" indent="0" algn="l" rtl="0">
              <a:spcBef>
                <a:spcPts val="1200"/>
              </a:spcBef>
              <a:spcAft>
                <a:spcPts val="1200"/>
              </a:spcAft>
              <a:buNone/>
            </a:pPr>
            <a:r>
              <a:rPr lang="ja"/>
              <a:t>・メダルの払い出し等ハードとの連携</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03" name="Google Shape;203;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t>再現要素(ハード面)</a:t>
            </a:r>
            <a:endParaRPr/>
          </a:p>
          <a:p>
            <a:pPr marL="0" lvl="0" indent="0" algn="l" rtl="0">
              <a:spcBef>
                <a:spcPts val="1200"/>
              </a:spcBef>
              <a:spcAft>
                <a:spcPts val="0"/>
              </a:spcAft>
              <a:buClr>
                <a:schemeClr val="dk1"/>
              </a:buClr>
              <a:buSzPts val="1100"/>
              <a:buFont typeface="Arial"/>
              <a:buNone/>
            </a:pPr>
            <a:r>
              <a:rPr lang="ja"/>
              <a:t>・目押し(図柄を見てボタンを押すことによって揃える）</a:t>
            </a:r>
            <a:endParaRPr/>
          </a:p>
          <a:p>
            <a:pPr marL="0" lvl="0" indent="0" algn="l" rtl="0">
              <a:spcBef>
                <a:spcPts val="1200"/>
              </a:spcBef>
              <a:spcAft>
                <a:spcPts val="0"/>
              </a:spcAft>
              <a:buClr>
                <a:schemeClr val="dk1"/>
              </a:buClr>
              <a:buSzPts val="1100"/>
              <a:buFont typeface="Arial"/>
              <a:buNone/>
            </a:pPr>
            <a:r>
              <a:rPr lang="ja"/>
              <a:t>・メダルの投入、払い出し</a:t>
            </a:r>
            <a:endParaRPr/>
          </a:p>
          <a:p>
            <a:pPr marL="0" lvl="0" indent="0" algn="l" rtl="0">
              <a:spcBef>
                <a:spcPts val="1200"/>
              </a:spcBef>
              <a:spcAft>
                <a:spcPts val="0"/>
              </a:spcAft>
              <a:buClr>
                <a:schemeClr val="dk1"/>
              </a:buClr>
              <a:buSzPts val="1100"/>
              <a:buFont typeface="Arial"/>
              <a:buNone/>
            </a:pPr>
            <a:r>
              <a:rPr lang="ja"/>
              <a:t>・レバー、ボタン、ボーナスランプの動作</a:t>
            </a:r>
            <a:endParaRPr/>
          </a:p>
          <a:p>
            <a:pPr marL="0" lvl="0" indent="0" algn="l" rtl="0">
              <a:spcBef>
                <a:spcPts val="1200"/>
              </a:spcBef>
              <a:spcAft>
                <a:spcPts val="0"/>
              </a:spcAft>
              <a:buNone/>
            </a:pPr>
            <a:r>
              <a:rPr lang="ja"/>
              <a:t>・7セグ</a:t>
            </a: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1291</Words>
  <Application>Microsoft Office PowerPoint</Application>
  <PresentationFormat>画面に合わせる (16:9)</PresentationFormat>
  <Paragraphs>145</Paragraphs>
  <Slides>21</Slides>
  <Notes>21</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21</vt:i4>
      </vt:variant>
    </vt:vector>
  </HeadingPairs>
  <TitlesOfParts>
    <vt:vector size="23" baseType="lpstr">
      <vt:lpstr>Arial</vt:lpstr>
      <vt:lpstr>Simple Light</vt:lpstr>
      <vt:lpstr>AIMEIBA スロットマシーン概要書</vt:lpstr>
      <vt:lpstr>目的</vt:lpstr>
      <vt:lpstr>そもそもパチスロとは？</vt:lpstr>
      <vt:lpstr>海外のスロットマシーンとの違い</vt:lpstr>
      <vt:lpstr>図柄を揃える</vt:lpstr>
      <vt:lpstr>図柄を揃える②</vt:lpstr>
      <vt:lpstr>技術介入の例</vt:lpstr>
      <vt:lpstr>今回のモデル</vt:lpstr>
      <vt:lpstr>ジャグラーとは？</vt:lpstr>
      <vt:lpstr>図柄</vt:lpstr>
      <vt:lpstr>図柄②</vt:lpstr>
      <vt:lpstr>リール配列と制御</vt:lpstr>
      <vt:lpstr>ジャグラーのシステム(通常時)</vt:lpstr>
      <vt:lpstr>設定</vt:lpstr>
      <vt:lpstr>ジャグラーのソフト(ボーナス時) </vt:lpstr>
      <vt:lpstr>ジャグラーのハード</vt:lpstr>
      <vt:lpstr>各部説明</vt:lpstr>
      <vt:lpstr>フローチャートの説明</vt:lpstr>
      <vt:lpstr>PowerPoint プレゼンテーション</vt:lpstr>
      <vt:lpstr>どこまで再現したいのか</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林田智輝</dc:creator>
  <cp:lastModifiedBy>林田　智輝</cp:lastModifiedBy>
  <cp:revision>1</cp:revision>
  <dcterms:modified xsi:type="dcterms:W3CDTF">2024-10-20T15:02:22Z</dcterms:modified>
</cp:coreProperties>
</file>